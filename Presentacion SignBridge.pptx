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60" r:id="rId5"/>
    <p:sldId id="264" r:id="rId6"/>
    <p:sldId id="261" r:id="rId7"/>
    <p:sldId id="268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897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667C9"/>
          </a:solidFill>
          <a:ln w="12700">
            <a:solidFill>
              <a:srgbClr val="7667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9246" y="826476"/>
            <a:ext cx="10709207" cy="5205047"/>
          </a:xfrm>
          <a:prstGeom prst="roundRect">
            <a:avLst>
              <a:gd name="adj" fmla="val 3584"/>
            </a:avLst>
          </a:prstGeom>
          <a:solidFill>
            <a:srgbClr val="FFFFFF"/>
          </a:solidFill>
          <a:ln w="12700">
            <a:solidFill>
              <a:srgbClr val="E5E0E8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7" name="Text 5"/>
          <p:cNvSpPr/>
          <p:nvPr/>
        </p:nvSpPr>
        <p:spPr>
          <a:xfrm>
            <a:off x="4126034" y="2116014"/>
            <a:ext cx="4529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800" dirty="0">
                <a:solidFill>
                  <a:srgbClr val="7667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9014" y="1915551"/>
            <a:ext cx="30789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700" b="1" dirty="0">
                <a:solidFill>
                  <a:srgbClr val="2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SignBridge</a:t>
            </a:r>
            <a:endParaRPr lang="en-US" sz="4700" dirty="0"/>
          </a:p>
        </p:txBody>
      </p:sp>
      <p:sp>
        <p:nvSpPr>
          <p:cNvPr id="9" name="Text 7"/>
          <p:cNvSpPr/>
          <p:nvPr/>
        </p:nvSpPr>
        <p:spPr>
          <a:xfrm>
            <a:off x="2232307" y="3448343"/>
            <a:ext cx="7908153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Reconocimiento de gestos manuales mediante inteligencia artificial</a:t>
            </a:r>
            <a:endParaRPr lang="en-US" sz="24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85800CF-DE02-338E-E021-C1C25B8A7E94}"/>
              </a:ext>
            </a:extLst>
          </p:cNvPr>
          <p:cNvSpPr txBox="1"/>
          <p:nvPr/>
        </p:nvSpPr>
        <p:spPr>
          <a:xfrm>
            <a:off x="4663362" y="1274055"/>
            <a:ext cx="2910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s-BO" sz="2400" b="1" i="0" cap="all" dirty="0">
                <a:solidFill>
                  <a:srgbClr val="000000"/>
                </a:solidFill>
                <a:effectLst/>
              </a:rPr>
              <a:t>Presentación de </a:t>
            </a:r>
            <a:endParaRPr lang="es-BO" sz="2400" cap="all" dirty="0">
              <a:effectLst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329D314-8321-3CD0-D7D0-118C2443E2D7}"/>
              </a:ext>
            </a:extLst>
          </p:cNvPr>
          <p:cNvSpPr txBox="1"/>
          <p:nvPr/>
        </p:nvSpPr>
        <p:spPr>
          <a:xfrm>
            <a:off x="925947" y="5490971"/>
            <a:ext cx="2329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s-BO" b="0" i="0" dirty="0">
                <a:solidFill>
                  <a:srgbClr val="000000"/>
                </a:solidFill>
                <a:effectLst/>
              </a:rPr>
              <a:t>Diego Andrade Canedo</a:t>
            </a:r>
            <a:endParaRPr lang="es-BO" dirty="0"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667C9"/>
          </a:solidFill>
          <a:ln w="12700">
            <a:solidFill>
              <a:srgbClr val="7667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40664"/>
            <a:ext cx="1990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633"/>
                </a:solidFill>
              </a:rPr>
              <a:t>El problema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594360" y="1518842"/>
            <a:ext cx="10982178" cy="1376758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0160">
            <a:solidFill>
              <a:srgbClr val="E5E0E8"/>
            </a:solidFill>
            <a:prstDash val="solid"/>
          </a:ln>
        </p:spPr>
        <p:txBody>
          <a:bodyPr/>
          <a:lstStyle/>
          <a:p>
            <a:endParaRPr lang="es-BO" dirty="0"/>
          </a:p>
        </p:txBody>
      </p:sp>
      <p:sp>
        <p:nvSpPr>
          <p:cNvPr id="9" name="Text 7"/>
          <p:cNvSpPr/>
          <p:nvPr/>
        </p:nvSpPr>
        <p:spPr>
          <a:xfrm>
            <a:off x="914400" y="21854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8856" y="1818601"/>
            <a:ext cx="105331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2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todas las personas conocen las lenguas de señas. Esto puede dificultar algunas interacciones cotidianas entre personas que utilizan señas y quienes no las comprenden.</a:t>
            </a:r>
            <a:endParaRPr lang="en-US" sz="21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43896369-9D53-54CE-8C40-BAEF44B465C6}"/>
              </a:ext>
            </a:extLst>
          </p:cNvPr>
          <p:cNvSpPr/>
          <p:nvPr/>
        </p:nvSpPr>
        <p:spPr>
          <a:xfrm>
            <a:off x="594360" y="3613053"/>
            <a:ext cx="34032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633"/>
                </a:solidFill>
              </a:rPr>
              <a:t>Objetivo del proyecto</a:t>
            </a:r>
            <a:endParaRPr lang="en-US" sz="2900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A8524ABF-B673-9470-B2F7-B2F2099E6010}"/>
              </a:ext>
            </a:extLst>
          </p:cNvPr>
          <p:cNvSpPr/>
          <p:nvPr/>
        </p:nvSpPr>
        <p:spPr>
          <a:xfrm>
            <a:off x="594360" y="4415732"/>
            <a:ext cx="10899648" cy="1207008"/>
          </a:xfrm>
          <a:prstGeom prst="roundRect">
            <a:avLst>
              <a:gd name="adj" fmla="val 11364"/>
            </a:avLst>
          </a:prstGeom>
          <a:solidFill>
            <a:srgbClr val="EDE9FA"/>
          </a:solidFill>
          <a:ln w="10160">
            <a:solidFill>
              <a:srgbClr val="E5E0E8"/>
            </a:solidFill>
            <a:prstDash val="solid"/>
          </a:ln>
        </p:spPr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4249E99B-4685-6EE8-5E55-A8AEECC4A91A}"/>
              </a:ext>
            </a:extLst>
          </p:cNvPr>
          <p:cNvSpPr/>
          <p:nvPr/>
        </p:nvSpPr>
        <p:spPr>
          <a:xfrm>
            <a:off x="969264" y="4667192"/>
            <a:ext cx="10149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s-ES" sz="2400" dirty="0"/>
              <a:t>Desarrollar una aplicación basada en inteligencia artificial para facilitar la interpretación del lenguaje de señas mediante el reconocimiento de gestos manuales en tiempo real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667C9"/>
          </a:solidFill>
          <a:ln w="12700">
            <a:solidFill>
              <a:srgbClr val="7667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6A3"/>
                </a:solidFill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650924"/>
            <a:ext cx="19612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633"/>
                </a:solidFill>
              </a:rPr>
              <a:t>Dificultades</a:t>
            </a:r>
            <a:endParaRPr lang="en-US" sz="2900" dirty="0"/>
          </a:p>
        </p:txBody>
      </p:sp>
      <p:sp>
        <p:nvSpPr>
          <p:cNvPr id="9" name="Shape 6"/>
          <p:cNvSpPr/>
          <p:nvPr/>
        </p:nvSpPr>
        <p:spPr>
          <a:xfrm>
            <a:off x="594360" y="1495044"/>
            <a:ext cx="5413248" cy="3538728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0160">
            <a:solidFill>
              <a:srgbClr val="E5E0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521" y="1495044"/>
            <a:ext cx="5036264" cy="33172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endParaRPr lang="en-US" sz="1600" dirty="0">
              <a:solidFill>
                <a:srgbClr val="2926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El modelo confundía algunas señas porque las imágenes incluían demasiados elementos del entorno.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Algunas letras tenían posiciones de los dedos muy parecidas, lo que dificultaba distinguirlas correctamente.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Fue necesario modificar el encuadre de las fotografías y volver a entrenar el modelo para obtener mejores resultados.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El modelo respondía mejor con imágenes recortadas que con la cámara completa, por lo que implemente un recuadro ajustable.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Las letras detectadas cambiaban constantemente. Para reducirlo, implemente un umbral de confianza del 75 % y exigimos cinco predicciones consecutivas.</a:t>
            </a:r>
            <a:endParaRPr lang="en-US" sz="16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34A54D5A-4B51-C1AD-D3F2-C6B28C82E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119" y="1688123"/>
            <a:ext cx="5642361" cy="32176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667C9"/>
          </a:solidFill>
          <a:ln w="12700">
            <a:solidFill>
              <a:srgbClr val="7667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2724" y="561214"/>
            <a:ext cx="23071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633"/>
                </a:solidFill>
              </a:rPr>
              <a:t>Entrenamiento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205155" y="1584388"/>
            <a:ext cx="11723076" cy="5086643"/>
          </a:xfrm>
          <a:prstGeom prst="roundRect">
            <a:avLst>
              <a:gd name="adj" fmla="val 3219"/>
            </a:avLst>
          </a:prstGeom>
          <a:solidFill>
            <a:srgbClr val="FFFFFF"/>
          </a:solidFill>
          <a:ln w="10160">
            <a:solidFill>
              <a:srgbClr val="E5E0E8"/>
            </a:solidFill>
            <a:prstDash val="solid"/>
          </a:ln>
        </p:spPr>
      </p:sp>
      <p:pic>
        <p:nvPicPr>
          <p:cNvPr id="10" name="Image 0" descr="/mnt/data/image(20261017-08592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24" y="1862562"/>
            <a:ext cx="2908965" cy="4510023"/>
          </a:xfrm>
          <a:prstGeom prst="rect">
            <a:avLst/>
          </a:prstGeom>
        </p:spPr>
      </p:pic>
      <p:pic>
        <p:nvPicPr>
          <p:cNvPr id="12" name="Image 1" descr="/mnt/data/image(20261017-085933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689" y="1862562"/>
            <a:ext cx="2908965" cy="4510024"/>
          </a:xfrm>
          <a:prstGeom prst="rect">
            <a:avLst/>
          </a:prstGeom>
        </p:spPr>
      </p:pic>
      <p:pic>
        <p:nvPicPr>
          <p:cNvPr id="14" name="Image 2" descr="/mnt/data/image(20261017-08594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981" y="1862561"/>
            <a:ext cx="2908965" cy="4510023"/>
          </a:xfrm>
          <a:prstGeom prst="rect">
            <a:avLst/>
          </a:prstGeom>
        </p:spPr>
      </p:pic>
      <p:pic>
        <p:nvPicPr>
          <p:cNvPr id="16" name="Image 3" descr="/mnt/data/image(20261017-085947).png"/>
          <p:cNvPicPr>
            <a:picLocks noChangeAspect="1"/>
          </p:cNvPicPr>
          <p:nvPr/>
        </p:nvPicPr>
        <p:blipFill>
          <a:blip r:embed="rId6"/>
          <a:srcRect l="7301"/>
          <a:stretch/>
        </p:blipFill>
        <p:spPr>
          <a:xfrm>
            <a:off x="9119619" y="1862559"/>
            <a:ext cx="2543907" cy="4510023"/>
          </a:xfrm>
          <a:prstGeom prst="rect">
            <a:avLst/>
          </a:prstGeom>
        </p:spPr>
      </p:pic>
      <p:sp>
        <p:nvSpPr>
          <p:cNvPr id="18" name="Shape 6">
            <a:extLst>
              <a:ext uri="{FF2B5EF4-FFF2-40B4-BE49-F238E27FC236}">
                <a16:creationId xmlns:a16="http://schemas.microsoft.com/office/drawing/2014/main" id="{21E08E0D-57FC-5F25-DC9D-CBDCC13F4DE2}"/>
              </a:ext>
            </a:extLst>
          </p:cNvPr>
          <p:cNvSpPr/>
          <p:nvPr/>
        </p:nvSpPr>
        <p:spPr>
          <a:xfrm>
            <a:off x="3204590" y="435498"/>
            <a:ext cx="1860686" cy="838835"/>
          </a:xfrm>
          <a:prstGeom prst="roundRect">
            <a:avLst>
              <a:gd name="adj" fmla="val 9036"/>
            </a:avLst>
          </a:prstGeom>
          <a:solidFill>
            <a:srgbClr val="FFFFFF"/>
          </a:solidFill>
          <a:ln w="10160">
            <a:solidFill>
              <a:srgbClr val="E5E0E8"/>
            </a:solidFill>
            <a:prstDash val="solid"/>
          </a:ln>
        </p:spPr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6B0AD840-020E-481F-2FC1-731439850A92}"/>
              </a:ext>
            </a:extLst>
          </p:cNvPr>
          <p:cNvSpPr/>
          <p:nvPr/>
        </p:nvSpPr>
        <p:spPr>
          <a:xfrm>
            <a:off x="3423109" y="532107"/>
            <a:ext cx="1091965" cy="44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7667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7.707</a:t>
            </a:r>
            <a:endParaRPr lang="en-US" sz="39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1FEF66D4-C85F-0CB2-C61C-56076837EF0E}"/>
              </a:ext>
            </a:extLst>
          </p:cNvPr>
          <p:cNvSpPr/>
          <p:nvPr/>
        </p:nvSpPr>
        <p:spPr>
          <a:xfrm>
            <a:off x="3441396" y="974950"/>
            <a:ext cx="720468" cy="17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79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imágenes</a:t>
            </a:r>
            <a:endParaRPr lang="en-US" sz="1500" dirty="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F5F3A057-F947-7FBD-2003-266740FE8FDB}"/>
              </a:ext>
            </a:extLst>
          </p:cNvPr>
          <p:cNvSpPr/>
          <p:nvPr/>
        </p:nvSpPr>
        <p:spPr>
          <a:xfrm>
            <a:off x="5283795" y="418549"/>
            <a:ext cx="1470894" cy="855784"/>
          </a:xfrm>
          <a:prstGeom prst="roundRect">
            <a:avLst>
              <a:gd name="adj" fmla="val 9036"/>
            </a:avLst>
          </a:prstGeom>
          <a:solidFill>
            <a:srgbClr val="FFFFFF"/>
          </a:solidFill>
          <a:ln w="10160">
            <a:solidFill>
              <a:srgbClr val="E5E0E8"/>
            </a:solidFill>
            <a:prstDash val="solid"/>
          </a:ln>
        </p:spPr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42B02761-64F9-9B27-4F96-28A728C6C44D}"/>
              </a:ext>
            </a:extLst>
          </p:cNvPr>
          <p:cNvSpPr/>
          <p:nvPr/>
        </p:nvSpPr>
        <p:spPr>
          <a:xfrm>
            <a:off x="5808113" y="478459"/>
            <a:ext cx="447001" cy="4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7667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39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9FBE5CEB-5B49-927B-412C-AAA58BB6B84D}"/>
              </a:ext>
            </a:extLst>
          </p:cNvPr>
          <p:cNvSpPr/>
          <p:nvPr/>
        </p:nvSpPr>
        <p:spPr>
          <a:xfrm>
            <a:off x="5749935" y="915141"/>
            <a:ext cx="63351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7975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clases</a:t>
            </a:r>
            <a:endParaRPr lang="en-US" sz="1500" dirty="0"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31004C79-86CC-924A-0BB7-06F23F7214EF}"/>
              </a:ext>
            </a:extLst>
          </p:cNvPr>
          <p:cNvSpPr/>
          <p:nvPr/>
        </p:nvSpPr>
        <p:spPr>
          <a:xfrm>
            <a:off x="6915002" y="408219"/>
            <a:ext cx="4643816" cy="855784"/>
          </a:xfrm>
          <a:prstGeom prst="roundRect">
            <a:avLst>
              <a:gd name="adj" fmla="val 8523"/>
            </a:avLst>
          </a:prstGeom>
          <a:solidFill>
            <a:srgbClr val="FFFFFF"/>
          </a:solidFill>
          <a:ln w="10160">
            <a:solidFill>
              <a:srgbClr val="E5E0E8"/>
            </a:solidFill>
            <a:prstDash val="solid"/>
          </a:ln>
        </p:spPr>
        <p:txBody>
          <a:bodyPr/>
          <a:lstStyle/>
          <a:p>
            <a:endParaRPr lang="es-BO" dirty="0"/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80E574C0-5160-D02D-03FF-F9D2F26C34CA}"/>
              </a:ext>
            </a:extLst>
          </p:cNvPr>
          <p:cNvSpPr/>
          <p:nvPr/>
        </p:nvSpPr>
        <p:spPr>
          <a:xfrm>
            <a:off x="7324901" y="570288"/>
            <a:ext cx="39116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 letras (A–Z) + Espacio + Borrar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667C9"/>
          </a:solidFill>
          <a:ln w="12700">
            <a:solidFill>
              <a:srgbClr val="7667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5745" y="407260"/>
            <a:ext cx="17268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633"/>
                </a:solidFill>
              </a:rPr>
              <a:t>Aplicación</a:t>
            </a:r>
            <a:endParaRPr lang="en-US" sz="2900" dirty="0"/>
          </a:p>
        </p:txBody>
      </p:sp>
      <p:sp>
        <p:nvSpPr>
          <p:cNvPr id="9" name="Shape 6"/>
          <p:cNvSpPr/>
          <p:nvPr/>
        </p:nvSpPr>
        <p:spPr>
          <a:xfrm>
            <a:off x="6090488" y="631068"/>
            <a:ext cx="3123497" cy="2452000"/>
          </a:xfrm>
          <a:prstGeom prst="roundRect">
            <a:avLst>
              <a:gd name="adj" fmla="val 3866"/>
            </a:avLst>
          </a:prstGeom>
          <a:solidFill>
            <a:srgbClr val="FFFFFF"/>
          </a:solidFill>
          <a:ln w="10160">
            <a:solidFill>
              <a:srgbClr val="E5E0E8"/>
            </a:solidFill>
            <a:prstDash val="solid"/>
          </a:ln>
        </p:spPr>
        <p:txBody>
          <a:bodyPr/>
          <a:lstStyle/>
          <a:p>
            <a:endParaRPr lang="es-BO" dirty="0"/>
          </a:p>
        </p:txBody>
      </p:sp>
      <p:sp>
        <p:nvSpPr>
          <p:cNvPr id="10" name="Text 7"/>
          <p:cNvSpPr/>
          <p:nvPr/>
        </p:nvSpPr>
        <p:spPr>
          <a:xfrm>
            <a:off x="6366684" y="956971"/>
            <a:ext cx="13467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7667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26823" y="1482868"/>
            <a:ext cx="2573215" cy="121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Activar y detener la cámara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292633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92633"/>
                </a:solidFill>
                <a:latin typeface="Aptos" pitchFamily="34" charset="0"/>
              </a:rPr>
              <a:t>Mover y ajustar el recuadro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292633"/>
              </a:solidFill>
              <a:latin typeface="Aptos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clase y confianza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47C9D8F5-82D2-BC1C-4BBF-D88EC98A8B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00" t="2526" r="9988" b="-1"/>
          <a:stretch/>
        </p:blipFill>
        <p:spPr>
          <a:xfrm>
            <a:off x="488471" y="1227642"/>
            <a:ext cx="5199594" cy="3433688"/>
          </a:xfrm>
          <a:prstGeom prst="rect">
            <a:avLst/>
          </a:prstGeom>
        </p:spPr>
      </p:pic>
      <p:sp>
        <p:nvSpPr>
          <p:cNvPr id="19" name="Shape 6">
            <a:extLst>
              <a:ext uri="{FF2B5EF4-FFF2-40B4-BE49-F238E27FC236}">
                <a16:creationId xmlns:a16="http://schemas.microsoft.com/office/drawing/2014/main" id="{D5FBC2C2-9519-9167-CB13-19CEBF47169C}"/>
              </a:ext>
            </a:extLst>
          </p:cNvPr>
          <p:cNvSpPr/>
          <p:nvPr/>
        </p:nvSpPr>
        <p:spPr>
          <a:xfrm>
            <a:off x="6007660" y="4495800"/>
            <a:ext cx="2614663" cy="1174444"/>
          </a:xfrm>
          <a:prstGeom prst="roundRect">
            <a:avLst>
              <a:gd name="adj" fmla="val 4438"/>
            </a:avLst>
          </a:prstGeom>
          <a:solidFill>
            <a:srgbClr val="FFFFFF"/>
          </a:solidFill>
          <a:ln w="10160">
            <a:solidFill>
              <a:srgbClr val="E5E0E8"/>
            </a:solidFill>
            <a:prstDash val="solid"/>
          </a:ln>
        </p:spPr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07F63B63-B41D-22EA-5B99-B60E95C85D7C}"/>
              </a:ext>
            </a:extLst>
          </p:cNvPr>
          <p:cNvSpPr/>
          <p:nvPr/>
        </p:nvSpPr>
        <p:spPr>
          <a:xfrm>
            <a:off x="6836401" y="4621452"/>
            <a:ext cx="1021549" cy="4341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7667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75 %</a:t>
            </a:r>
            <a:endParaRPr lang="en-US" sz="48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1CC1FC7C-2833-353F-67BF-B79720B4E102}"/>
              </a:ext>
            </a:extLst>
          </p:cNvPr>
          <p:cNvSpPr/>
          <p:nvPr/>
        </p:nvSpPr>
        <p:spPr>
          <a:xfrm>
            <a:off x="6201387" y="5117097"/>
            <a:ext cx="2307101" cy="4049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Confianza mínima para considerar una predicción</a:t>
            </a:r>
            <a:endParaRPr lang="en-US" sz="200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6816A02B-8A3A-7EF8-C87F-11D2D494D870}"/>
              </a:ext>
            </a:extLst>
          </p:cNvPr>
          <p:cNvSpPr/>
          <p:nvPr/>
        </p:nvSpPr>
        <p:spPr>
          <a:xfrm>
            <a:off x="6936545" y="3841189"/>
            <a:ext cx="39541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92633"/>
                </a:solidFill>
              </a:rPr>
              <a:t>Estabilidad de las Predicciones</a:t>
            </a:r>
            <a:endParaRPr lang="en-US" sz="2400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A0E23B09-F2A7-94F4-CE89-1A09B2294E93}"/>
              </a:ext>
            </a:extLst>
          </p:cNvPr>
          <p:cNvSpPr/>
          <p:nvPr/>
        </p:nvSpPr>
        <p:spPr>
          <a:xfrm>
            <a:off x="8965364" y="4502456"/>
            <a:ext cx="2614663" cy="1167788"/>
          </a:xfrm>
          <a:prstGeom prst="roundRect">
            <a:avLst>
              <a:gd name="adj" fmla="val 4438"/>
            </a:avLst>
          </a:prstGeom>
          <a:solidFill>
            <a:srgbClr val="FFFFFF"/>
          </a:solidFill>
          <a:ln w="10160">
            <a:solidFill>
              <a:srgbClr val="E5E0E8"/>
            </a:solidFill>
            <a:prstDash val="solid"/>
          </a:ln>
        </p:spPr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34F4F414-E9DF-8160-6B27-F32051A70A42}"/>
              </a:ext>
            </a:extLst>
          </p:cNvPr>
          <p:cNvSpPr/>
          <p:nvPr/>
        </p:nvSpPr>
        <p:spPr>
          <a:xfrm>
            <a:off x="10179012" y="4670589"/>
            <a:ext cx="259039" cy="4124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7667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</a:t>
            </a:r>
            <a:endParaRPr lang="en-US" sz="48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9DD04820-1B60-C269-E5D8-CD1AA66EA692}"/>
              </a:ext>
            </a:extLst>
          </p:cNvPr>
          <p:cNvSpPr/>
          <p:nvPr/>
        </p:nvSpPr>
        <p:spPr>
          <a:xfrm>
            <a:off x="9150144" y="5127224"/>
            <a:ext cx="2307101" cy="3846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9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Predicciones consecutivas de la clase antes de confirmarla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667C9"/>
          </a:solidFill>
          <a:ln w="12700">
            <a:solidFill>
              <a:srgbClr val="7667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585216"/>
            <a:ext cx="2551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633"/>
                </a:solidFill>
              </a:rPr>
              <a:t>Mejoras Futuras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460248" y="1493403"/>
            <a:ext cx="5635752" cy="1220109"/>
          </a:xfrm>
          <a:prstGeom prst="roundRect">
            <a:avLst>
              <a:gd name="adj" fmla="val 5245"/>
            </a:avLst>
          </a:prstGeom>
          <a:solidFill>
            <a:srgbClr val="FFFFFF"/>
          </a:solidFill>
          <a:ln w="10160">
            <a:solidFill>
              <a:srgbClr val="E5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7136" y="1493403"/>
            <a:ext cx="914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7667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1117092" y="1539123"/>
            <a:ext cx="3459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s-ES" sz="2000" dirty="0"/>
              <a:t>Formación de palabras y oraciones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07136" y="1990696"/>
            <a:ext cx="5298407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S" sz="1400" dirty="0"/>
              <a:t>Permitir que las letras reconocidas se acumulen para formar mensajes completos, utilizando las funciones de espacio y borrar.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869948" y="2936513"/>
            <a:ext cx="6255432" cy="1312750"/>
          </a:xfrm>
          <a:prstGeom prst="roundRect">
            <a:avLst>
              <a:gd name="adj" fmla="val 5245"/>
            </a:avLst>
          </a:prstGeom>
          <a:solidFill>
            <a:srgbClr val="FFFFFF"/>
          </a:solidFill>
          <a:ln w="10160">
            <a:solidFill>
              <a:srgbClr val="E5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16836" y="2936513"/>
            <a:ext cx="305267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7667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2480098" y="2982233"/>
            <a:ext cx="3845637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BO" sz="2000" dirty="0"/>
              <a:t>Reconocimiento de señas completas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116836" y="3243423"/>
            <a:ext cx="6067161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S" sz="1400" dirty="0"/>
              <a:t>Ampliar el modelo para identificar señas que representen palabras y expresiones, no solamente letras individuales.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44112" y="4611388"/>
            <a:ext cx="6197054" cy="1137608"/>
          </a:xfrm>
          <a:prstGeom prst="roundRect">
            <a:avLst>
              <a:gd name="adj" fmla="val 5245"/>
            </a:avLst>
          </a:prstGeom>
          <a:solidFill>
            <a:srgbClr val="FFFFFF"/>
          </a:solidFill>
          <a:ln w="10160">
            <a:solidFill>
              <a:srgbClr val="E5E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91000" y="4592749"/>
            <a:ext cx="34067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7667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4589585" y="4611388"/>
            <a:ext cx="4174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BO" sz="2000" dirty="0"/>
              <a:t>Entrenamiento con diferentes personas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191000" y="5139279"/>
            <a:ext cx="611100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S" sz="1400" dirty="0"/>
              <a:t>Recopilar imágenes de más usuarios, con distintas condiciones de iluminación y fondos, para evaluar y mejorar la capacidad de generalización.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667C9"/>
          </a:solidFill>
          <a:ln w="12700">
            <a:solidFill>
              <a:srgbClr val="7667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87010" y="3177540"/>
            <a:ext cx="301767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292633"/>
                </a:solidFill>
              </a:rPr>
              <a:t>Gracias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304</Words>
  <Application>Microsoft Office PowerPoint</Application>
  <PresentationFormat>Panorámica</PresentationFormat>
  <Paragraphs>57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SignBridge · Reconocimiento de gestos manuales</dc:title>
  <dc:subject>Presentación académica del prototipo SignBridge</dc:subject>
  <dc:creator>SignBridge</dc:creator>
  <cp:lastModifiedBy>Diego Andrade Canedo</cp:lastModifiedBy>
  <cp:revision>2</cp:revision>
  <dcterms:created xsi:type="dcterms:W3CDTF">2026-10-17T09:36:32Z</dcterms:created>
  <dcterms:modified xsi:type="dcterms:W3CDTF">2026-10-17T10:42:06Z</dcterms:modified>
</cp:coreProperties>
</file>